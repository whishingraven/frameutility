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Our project asks a simple question: when does adding one more image actually make a 3D reconstruction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like VGGT take a set of images and predict camera poses and depth in a single forward pass. In practice, some of those images are blurry. We already know blur hurts quality, so that’s not really our point. What we want to know is whether a blurry image is still better than no image at all, or whether there’s a blur level where it starts doing more harm than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this, we compare two runs that use the same context images. In the first, we drop the target image and get error E1. In the second, we add the target with some blur and get error E2. The difference, U equals E1 minus E2, tells us whether adding the image helped. We compute U at every blur level, so we get a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two scenes from ETH3D, office and terrace, which have laser-scan ground truth. The model is the pretrained VGGT-1B, with no fine-tuning. For each case we pick one target image and a few context images, blur the target synthetically from zero up to 64 pixels, and run VGGT with the target dropped and with it blurred. The images at the bottom show what the blur levels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 two kinds of error and keep them separate. For pose, we use relative rotation and translation errors between context image pairs, with the same pairs in both runs. For geometry, we use the official ETH3D point cloud metrics. One thing we noticed in a small pilot is that VGGT’s output changes a little even with invisible input changes, so we repeat each run with tiny noise and only count differences bigger than that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end, we’ll report how U changes with blur, how often adding a blurry image is actually harmful, the blur level where that starts, and which settings cause it, for example few images or little overlap. Hopefully this gives a practical guideline for when blurry frames should be thrown away.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F3864"/>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454150"/>
            <a:ext cx="10566400" cy="4591050"/>
          </a:xfrm>
          <a:prstGeom prst="rect">
            <a:avLst/>
          </a:prstGeom>
          <a:noFill/>
          <a:ln/>
        </p:spPr>
        <p:txBody>
          <a:bodyPr wrap="square" lIns="0" tIns="0" rIns="0" bIns="0" rtlCol="0" anchor="t"/>
          <a:lstStyle>
            <a:lvl1pPr algn="l" indent="0" marL="0">
              <a:lnSpc>
                <a:spcPct val="140000"/>
              </a:lnSpc>
              <a:buNone/>
              <a:defRPr lang="en-US" sz="1600" dirty="0">
                <a:solidFill>
                  <a:srgbClr val="262626"/>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F3864"/>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454150"/>
            <a:ext cx="10566400" cy="4591050"/>
          </a:xfrm>
          <a:prstGeom prst="rect">
            <a:avLst/>
          </a:prstGeom>
          <a:noFill/>
          <a:ln/>
        </p:spPr>
        <p:txBody>
          <a:bodyPr wrap="square" lIns="0" tIns="0" rIns="0" bIns="0" rtlCol="0" anchor="t"/>
          <a:lstStyle>
            <a:lvl1pPr algn="l" indent="0" marL="0">
              <a:lnSpc>
                <a:spcPct val="140000"/>
              </a:lnSpc>
              <a:buNone/>
              <a:defRPr lang="en-US" sz="1600" dirty="0">
                <a:solidFill>
                  <a:srgbClr val="262626"/>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654304" y="2031405"/>
            <a:ext cx="10883392" cy="1076920"/>
          </a:xfrm>
          <a:prstGeom prst="rect">
            <a:avLst/>
          </a:prstGeom>
          <a:noFill/>
          <a:ln/>
        </p:spPr>
        <p:txBody>
          <a:bodyPr wrap="square" lIns="0" tIns="0" rIns="0" bIns="0" rtlCol="0" anchor="t">
            <a:normAutofit/>
          </a:bodyPr>
          <a:lstStyle/>
          <a:p>
            <a:pPr algn="ctr" indent="0" marL="0">
              <a:lnSpc>
                <a:spcPts val="4140"/>
              </a:lnSpc>
              <a:buNone/>
            </a:pPr>
            <a:r>
              <a:rPr lang="en-US" sz="3600" b="1" i="0" dirty="0">
                <a:solidFill>
                  <a:srgbClr val="1F3864"/>
                </a:solidFill>
                <a:latin typeface="Arial" pitchFamily="34" charset="0"/>
                <a:ea typeface="Arial" pitchFamily="34" charset="-122"/>
                <a:cs typeface="Arial" pitchFamily="34" charset="-120"/>
              </a:rPr>
              <a:t>When Does an Additional View Become Harmful?</a:t>
            </a:r>
            <a:endParaRPr lang="en-US" sz="3600" dirty="0"/>
          </a:p>
        </p:txBody>
      </p:sp>
      <p:sp>
        <p:nvSpPr>
          <p:cNvPr id="3" name="Text 1"/>
          <p:cNvSpPr/>
          <p:nvPr/>
        </p:nvSpPr>
        <p:spPr>
          <a:xfrm>
            <a:off x="1075913" y="3286125"/>
            <a:ext cx="10040124" cy="368300"/>
          </a:xfrm>
          <a:prstGeom prst="rect">
            <a:avLst/>
          </a:prstGeom>
          <a:noFill/>
          <a:ln/>
        </p:spPr>
        <p:txBody>
          <a:bodyPr wrap="square" lIns="0" tIns="0" rIns="0" bIns="0" rtlCol="0" anchor="t">
            <a:normAutofit/>
          </a:bodyPr>
          <a:lstStyle/>
          <a:p>
            <a:pPr algn="ctr" indent="0" marL="0">
              <a:lnSpc>
                <a:spcPts val="2700"/>
              </a:lnSpc>
              <a:buNone/>
            </a:pPr>
            <a:r>
              <a:rPr lang="en-US" sz="2000" dirty="0">
                <a:solidFill>
                  <a:srgbClr val="404040"/>
                </a:solidFill>
                <a:latin typeface="Arial" pitchFamily="34" charset="0"/>
                <a:ea typeface="Arial" pitchFamily="34" charset="-122"/>
                <a:cs typeface="Arial" pitchFamily="34" charset="-120"/>
              </a:rPr>
              <a:t>Marginal Utility of Degraded Observations in Multi-View 3D Reconstruction</a:t>
            </a:r>
            <a:endParaRPr lang="en-US" sz="2000" dirty="0"/>
          </a:p>
        </p:txBody>
      </p:sp>
      <p:pic>
        <p:nvPicPr>
          <p:cNvPr id="4" name="Image 0" descr="line">    </p:cNvPr>
          <p:cNvPicPr>
            <a:picLocks noChangeAspect="1"/>
          </p:cNvPicPr>
          <p:nvPr/>
        </p:nvPicPr>
        <p:blipFill>
          <a:blip r:embed="rId1"/>
          <a:srcRect l="0" r="0" t="0" b="0"/>
          <a:stretch/>
        </p:blipFill>
        <p:spPr>
          <a:xfrm>
            <a:off x="4318000" y="3832225"/>
            <a:ext cx="3556000" cy="19050"/>
          </a:xfrm>
          <a:prstGeom prst="rect">
            <a:avLst/>
          </a:prstGeom>
        </p:spPr>
      </p:pic>
      <p:sp>
        <p:nvSpPr>
          <p:cNvPr id="5" name="Text 2"/>
          <p:cNvSpPr/>
          <p:nvPr/>
        </p:nvSpPr>
        <p:spPr>
          <a:xfrm>
            <a:off x="4421267" y="4054475"/>
            <a:ext cx="3349466" cy="345430"/>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262626"/>
                </a:solidFill>
                <a:latin typeface="Arial" pitchFamily="34" charset="0"/>
                <a:ea typeface="Arial" pitchFamily="34" charset="-122"/>
                <a:cs typeface="Arial" pitchFamily="34" charset="-120"/>
              </a:rPr>
              <a:t>Minchan Kim, Yunseop Kim</a:t>
            </a:r>
            <a:endParaRPr lang="en-US" sz="1800" dirty="0"/>
          </a:p>
        </p:txBody>
      </p:sp>
      <p:sp>
        <p:nvSpPr>
          <p:cNvPr id="6" name="Text 3"/>
          <p:cNvSpPr/>
          <p:nvPr/>
        </p:nvSpPr>
        <p:spPr>
          <a:xfrm>
            <a:off x="4386267" y="4577705"/>
            <a:ext cx="3419415" cy="27429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95959"/>
                </a:solidFill>
                <a:latin typeface="Arial" pitchFamily="34" charset="0"/>
                <a:ea typeface="Arial" pitchFamily="34" charset="-122"/>
                <a:cs typeface="Arial" pitchFamily="34" charset="-120"/>
              </a:rPr>
              <a:t>Robot Vision, Term Project Proposal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3864"/>
                </a:solidFill>
                <a:latin typeface="Arial" pitchFamily="34" charset="0"/>
                <a:ea typeface="Arial" pitchFamily="34" charset="-122"/>
                <a:cs typeface="Arial" pitchFamily="34" charset="-120"/>
              </a:rPr>
              <a:t>Motivation</a:t>
            </a:r>
            <a:endParaRPr lang="en-US" sz="3000" dirty="0"/>
          </a:p>
        </p:txBody>
      </p:sp>
      <p:pic>
        <p:nvPicPr>
          <p:cNvPr id="3" name="Image 0" descr="line">    </p:cNvPr>
          <p:cNvPicPr>
            <a:picLocks noChangeAspect="1"/>
          </p:cNvPicPr>
          <p:nvPr/>
        </p:nvPicPr>
        <p:blipFill>
          <a:blip r:embed="rId1"/>
          <a:srcRect l="0" r="0" t="0" b="0"/>
          <a:stretch/>
        </p:blipFill>
        <p:spPr>
          <a:xfrm>
            <a:off x="812800" y="1327150"/>
            <a:ext cx="10566400" cy="25400"/>
          </a:xfrm>
          <a:prstGeom prst="rect">
            <a:avLst/>
          </a:prstGeom>
        </p:spPr>
      </p:pic>
      <p:sp>
        <p:nvSpPr>
          <p:cNvPr id="4" name="Text 1"/>
          <p:cNvSpPr/>
          <p:nvPr/>
        </p:nvSpPr>
        <p:spPr>
          <a:xfrm>
            <a:off x="868934" y="1530350"/>
            <a:ext cx="10819638" cy="1397000"/>
          </a:xfrm>
          <a:prstGeom prst="rect">
            <a:avLst/>
          </a:prstGeom>
          <a:noFill/>
          <a:ln/>
        </p:spPr>
        <p:txBody>
          <a:bodyPr wrap="square" lIns="0" tIns="0" rIns="0" bIns="0" rtlCol="0" anchor="t">
            <a:normAutofit/>
          </a:bodyPr>
          <a:lstStyle/>
          <a:p>
            <a:pPr algn="l" marL="197866" indent="-197866">
              <a:lnSpc>
                <a:spcPts val="2700"/>
              </a:lnSpc>
              <a:buSzPct val="100000"/>
              <a:buChar char="•"/>
            </a:pPr>
            <a:r>
              <a:rPr lang="en-US" sz="1800" dirty="0">
                <a:solidFill>
                  <a:srgbClr val="262626"/>
                </a:solidFill>
                <a:latin typeface="Arial" pitchFamily="34" charset="0"/>
                <a:ea typeface="Arial" pitchFamily="34" charset="-122"/>
                <a:cs typeface="Arial" pitchFamily="34" charset="-120"/>
              </a:rPr>
              <a:t>Feed-forward models such as VGGT [1] predict camera poses and depth from a set of images in a single pass</a:t>
            </a:r>
            <a:endParaRPr lang="en-US" sz="1800" dirty="0"/>
          </a:p>
          <a:p>
            <a:pPr algn="l" marL="197866" indent="-197866">
              <a:lnSpc>
                <a:spcPts val="2700"/>
              </a:lnSpc>
              <a:buSzPct val="100000"/>
              <a:buChar char="•"/>
            </a:pPr>
            <a:r>
              <a:rPr lang="en-US" sz="1800" dirty="0">
                <a:solidFill>
                  <a:srgbClr val="262626"/>
                </a:solidFill>
                <a:latin typeface="Arial" pitchFamily="34" charset="0"/>
                <a:ea typeface="Arial" pitchFamily="34" charset="-122"/>
                <a:cs typeface="Arial" pitchFamily="34" charset="-120"/>
              </a:rPr>
              <a:t>Real images often contain motion blur, defocus or low light</a:t>
            </a:r>
            <a:endParaRPr lang="en-US" sz="1800" dirty="0"/>
          </a:p>
          <a:p>
            <a:pPr algn="l" marL="197866" indent="-197866">
              <a:lnSpc>
                <a:spcPts val="2700"/>
              </a:lnSpc>
              <a:buSzPct val="100000"/>
              <a:buChar char="•"/>
            </a:pPr>
            <a:r>
              <a:rPr lang="en-US" sz="1800" dirty="0">
                <a:solidFill>
                  <a:srgbClr val="262626"/>
                </a:solidFill>
                <a:latin typeface="Arial" pitchFamily="34" charset="0"/>
                <a:ea typeface="Arial" pitchFamily="34" charset="-122"/>
                <a:cs typeface="Arial" pitchFamily="34" charset="-120"/>
              </a:rPr>
              <a:t>It is already known that blur lowers reconstruction quality</a:t>
            </a:r>
            <a:endParaRPr lang="en-US" sz="1800" dirty="0"/>
          </a:p>
        </p:txBody>
      </p:sp>
      <p:sp>
        <p:nvSpPr>
          <p:cNvPr id="5" name="Shape 2"/>
          <p:cNvSpPr/>
          <p:nvPr/>
        </p:nvSpPr>
        <p:spPr>
          <a:xfrm>
            <a:off x="812800" y="3079750"/>
            <a:ext cx="10566400" cy="1046460"/>
          </a:xfrm>
          <a:prstGeom prst="rect">
            <a:avLst/>
          </a:prstGeom>
          <a:solidFill>
            <a:srgbClr val="FBE5D6"/>
          </a:solidFill>
          <a:ln/>
        </p:spPr>
      </p:sp>
      <p:sp>
        <p:nvSpPr>
          <p:cNvPr id="6" name="Shape 3"/>
          <p:cNvSpPr/>
          <p:nvPr/>
        </p:nvSpPr>
        <p:spPr>
          <a:xfrm>
            <a:off x="838200" y="3079750"/>
            <a:ext cx="0" cy="1046460"/>
          </a:xfrm>
          <a:prstGeom prst="line">
            <a:avLst/>
          </a:prstGeom>
          <a:noFill/>
          <a:ln w="50800">
            <a:solidFill>
              <a:srgbClr val="ED7D31"/>
            </a:solidFill>
            <a:prstDash val="solid"/>
          </a:ln>
        </p:spPr>
      </p:sp>
      <p:sp>
        <p:nvSpPr>
          <p:cNvPr id="7" name="Text 4"/>
          <p:cNvSpPr/>
          <p:nvPr/>
        </p:nvSpPr>
        <p:spPr>
          <a:xfrm>
            <a:off x="1092200" y="3257550"/>
            <a:ext cx="1036015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62626"/>
                </a:solidFill>
                <a:latin typeface="Arial" pitchFamily="34" charset="0"/>
                <a:ea typeface="Arial" pitchFamily="34" charset="-122"/>
                <a:cs typeface="Arial" pitchFamily="34" charset="-120"/>
              </a:rPr>
              <a:t>Our question: is a blurry image still better than no image at all?</a:t>
            </a:r>
            <a:endParaRPr lang="en-US" sz="2000" dirty="0"/>
          </a:p>
        </p:txBody>
      </p:sp>
      <p:sp>
        <p:nvSpPr>
          <p:cNvPr id="8" name="Text 5"/>
          <p:cNvSpPr/>
          <p:nvPr/>
        </p:nvSpPr>
        <p:spPr>
          <a:xfrm>
            <a:off x="1092200" y="3663950"/>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04040"/>
                </a:solidFill>
                <a:latin typeface="Arial" pitchFamily="34" charset="0"/>
                <a:ea typeface="Arial" pitchFamily="34" charset="-122"/>
                <a:cs typeface="Arial" pitchFamily="34" charset="-120"/>
              </a:rPr>
              <a:t>Or is there a blur level where adding it makes the result worse than leaving it out?</a:t>
            </a:r>
            <a:endParaRPr lang="en-US" sz="1600" dirty="0"/>
          </a:p>
        </p:txBody>
      </p:sp>
      <p:sp>
        <p:nvSpPr>
          <p:cNvPr id="9" name="Text 6"/>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[1] J. Wang et al., “VGGT: Visual Geometry Grounded Transformer,” CVPR 2025.</a:t>
            </a:r>
            <a:endParaRPr lang="en-US" sz="1200" dirty="0"/>
          </a:p>
        </p:txBody>
      </p:sp>
      <p:sp>
        <p:nvSpPr>
          <p:cNvPr id="10" name="Text 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Robot Vision Term Project</a:t>
            </a:r>
            <a:endParaRPr lang="en-US" sz="12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3864"/>
                </a:solidFill>
                <a:latin typeface="Arial" pitchFamily="34" charset="0"/>
                <a:ea typeface="Arial" pitchFamily="34" charset="-122"/>
                <a:cs typeface="Arial" pitchFamily="34" charset="-120"/>
              </a:rPr>
              <a:t>Marginal Utility of an Added View</a:t>
            </a:r>
            <a:endParaRPr lang="en-US" sz="3000" dirty="0"/>
          </a:p>
        </p:txBody>
      </p:sp>
      <p:pic>
        <p:nvPicPr>
          <p:cNvPr id="3" name="Image 0" descr="line">    </p:cNvPr>
          <p:cNvPicPr>
            <a:picLocks noChangeAspect="1"/>
          </p:cNvPicPr>
          <p:nvPr/>
        </p:nvPicPr>
        <p:blipFill>
          <a:blip r:embed="rId1"/>
          <a:srcRect l="0" r="0" t="0" b="0"/>
          <a:stretch/>
        </p:blipFill>
        <p:spPr>
          <a:xfrm>
            <a:off x="812800" y="1327150"/>
            <a:ext cx="10566400" cy="25400"/>
          </a:xfrm>
          <a:prstGeom prst="rect">
            <a:avLst/>
          </a:prstGeom>
        </p:spPr>
      </p:pic>
      <p:sp>
        <p:nvSpPr>
          <p:cNvPr id="4" name="Text 1"/>
          <p:cNvSpPr/>
          <p:nvPr/>
        </p:nvSpPr>
        <p:spPr>
          <a:xfrm>
            <a:off x="812800" y="1610370"/>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62626"/>
                </a:solidFill>
                <a:latin typeface="Arial" pitchFamily="34" charset="0"/>
                <a:ea typeface="Arial" pitchFamily="34" charset="-122"/>
                <a:cs typeface="Arial" pitchFamily="34" charset="-120"/>
              </a:rPr>
              <a:t>(a) Drop the target</a:t>
            </a:r>
            <a:endParaRPr lang="en-US" sz="1600" dirty="0"/>
          </a:p>
        </p:txBody>
      </p:sp>
      <p:sp>
        <p:nvSpPr>
          <p:cNvPr id="5" name="Shape 2"/>
          <p:cNvSpPr/>
          <p:nvPr/>
        </p:nvSpPr>
        <p:spPr>
          <a:xfrm>
            <a:off x="3378200" y="1562100"/>
            <a:ext cx="508000" cy="381000"/>
          </a:xfrm>
          <a:prstGeom prst="rect">
            <a:avLst/>
          </a:prstGeom>
          <a:solidFill>
            <a:srgbClr val="BFBFBF"/>
          </a:solidFill>
          <a:ln/>
        </p:spPr>
      </p:sp>
      <p:sp>
        <p:nvSpPr>
          <p:cNvPr id="6" name="Shape 3"/>
          <p:cNvSpPr/>
          <p:nvPr/>
        </p:nvSpPr>
        <p:spPr>
          <a:xfrm>
            <a:off x="3949700" y="1562100"/>
            <a:ext cx="508000" cy="381000"/>
          </a:xfrm>
          <a:prstGeom prst="rect">
            <a:avLst/>
          </a:prstGeom>
          <a:solidFill>
            <a:srgbClr val="BFBFBF"/>
          </a:solidFill>
          <a:ln/>
        </p:spPr>
      </p:sp>
      <p:sp>
        <p:nvSpPr>
          <p:cNvPr id="7" name="Shape 4"/>
          <p:cNvSpPr/>
          <p:nvPr/>
        </p:nvSpPr>
        <p:spPr>
          <a:xfrm>
            <a:off x="4521200" y="1562100"/>
            <a:ext cx="508000" cy="381000"/>
          </a:xfrm>
          <a:prstGeom prst="rect">
            <a:avLst/>
          </a:prstGeom>
          <a:solidFill>
            <a:srgbClr val="BFBFBF"/>
          </a:solidFill>
          <a:ln/>
        </p:spPr>
      </p:sp>
      <p:sp>
        <p:nvSpPr>
          <p:cNvPr id="8" name="Shape 5"/>
          <p:cNvSpPr/>
          <p:nvPr/>
        </p:nvSpPr>
        <p:spPr>
          <a:xfrm>
            <a:off x="5092700" y="1562100"/>
            <a:ext cx="508000" cy="381000"/>
          </a:xfrm>
          <a:prstGeom prst="rect">
            <a:avLst/>
          </a:prstGeom>
          <a:solidFill>
            <a:srgbClr val="BFBFBF"/>
          </a:solidFill>
          <a:ln/>
        </p:spPr>
      </p:sp>
      <p:sp>
        <p:nvSpPr>
          <p:cNvPr id="9" name="Shape 6"/>
          <p:cNvSpPr/>
          <p:nvPr/>
        </p:nvSpPr>
        <p:spPr>
          <a:xfrm>
            <a:off x="5673725" y="1571625"/>
            <a:ext cx="488950" cy="361950"/>
          </a:xfrm>
          <a:prstGeom prst="rect">
            <a:avLst/>
          </a:prstGeom>
          <a:noFill/>
          <a:ln w="19050">
            <a:solidFill>
              <a:srgbClr val="A5A5A5"/>
            </a:solidFill>
            <a:prstDash val="dash"/>
          </a:ln>
        </p:spPr>
      </p:sp>
      <p:pic>
        <p:nvPicPr>
          <p:cNvPr id="10" name="Image 1" descr="arrow-right">    </p:cNvPr>
          <p:cNvPicPr>
            <a:picLocks noChangeAspect="1"/>
          </p:cNvPicPr>
          <p:nvPr/>
        </p:nvPicPr>
        <p:blipFill>
          <a:blip r:embed="rId2"/>
          <a:srcRect l="0" r="0" t="0" b="0"/>
          <a:stretch/>
        </p:blipFill>
        <p:spPr>
          <a:xfrm>
            <a:off x="6324600" y="1663700"/>
            <a:ext cx="381000" cy="177800"/>
          </a:xfrm>
          <a:prstGeom prst="rect">
            <a:avLst/>
          </a:prstGeom>
        </p:spPr>
      </p:pic>
      <p:sp>
        <p:nvSpPr>
          <p:cNvPr id="11" name="Text 7"/>
          <p:cNvSpPr/>
          <p:nvPr/>
        </p:nvSpPr>
        <p:spPr>
          <a:xfrm>
            <a:off x="6858000" y="1530350"/>
            <a:ext cx="1079500" cy="444500"/>
          </a:xfrm>
          <a:prstGeom prst="rect">
            <a:avLst/>
          </a:prstGeom>
          <a:solidFill>
            <a:srgbClr val="4472C4"/>
          </a:solidFill>
          <a:ln/>
        </p:spPr>
        <p:txBody>
          <a:bodyPr wrap="square" lIns="0" tIns="0" rIns="0" bIns="0" rtlCol="0" anchor="ctr">
            <a:normAutofit/>
          </a:bodyPr>
          <a:lstStyle/>
          <a:p>
            <a:pPr algn="ctr" indent="0" marL="0">
              <a:lnSpc>
                <a:spcPts val="2240"/>
              </a:lnSpc>
              <a:buNone/>
            </a:pPr>
            <a:r>
              <a:rPr lang="en-US" sz="1600" b="1" dirty="0">
                <a:solidFill>
                  <a:srgbClr val="FFFFFF"/>
                </a:solidFill>
                <a:latin typeface="Arial" pitchFamily="34" charset="0"/>
                <a:ea typeface="Arial" pitchFamily="34" charset="-122"/>
                <a:cs typeface="Arial" pitchFamily="34" charset="-120"/>
              </a:rPr>
              <a:t>VGGT</a:t>
            </a:r>
            <a:endParaRPr lang="en-US" sz="1600" dirty="0"/>
          </a:p>
        </p:txBody>
      </p:sp>
      <p:pic>
        <p:nvPicPr>
          <p:cNvPr id="12" name="Image 2" descr="arrow-right">    </p:cNvPr>
          <p:cNvPicPr>
            <a:picLocks noChangeAspect="1"/>
          </p:cNvPicPr>
          <p:nvPr/>
        </p:nvPicPr>
        <p:blipFill>
          <a:blip r:embed="rId3"/>
          <a:srcRect l="0" r="0" t="0" b="0"/>
          <a:stretch/>
        </p:blipFill>
        <p:spPr>
          <a:xfrm>
            <a:off x="8089900" y="1663700"/>
            <a:ext cx="381000" cy="177800"/>
          </a:xfrm>
          <a:prstGeom prst="rect">
            <a:avLst/>
          </a:prstGeom>
        </p:spPr>
      </p:pic>
      <p:sp>
        <p:nvSpPr>
          <p:cNvPr id="13" name="Text 8"/>
          <p:cNvSpPr/>
          <p:nvPr/>
        </p:nvSpPr>
        <p:spPr>
          <a:xfrm>
            <a:off x="8623300" y="1592560"/>
            <a:ext cx="108257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62626"/>
                </a:solidFill>
                <a:latin typeface="Arial" pitchFamily="34" charset="0"/>
                <a:ea typeface="Arial" pitchFamily="34" charset="-122"/>
                <a:cs typeface="Arial" pitchFamily="34" charset="-120"/>
              </a:rPr>
              <a:t>Error E1</a:t>
            </a:r>
            <a:endParaRPr lang="en-US" sz="1800" dirty="0"/>
          </a:p>
        </p:txBody>
      </p:sp>
      <p:sp>
        <p:nvSpPr>
          <p:cNvPr id="14" name="Text 9"/>
          <p:cNvSpPr/>
          <p:nvPr/>
        </p:nvSpPr>
        <p:spPr>
          <a:xfrm>
            <a:off x="812800" y="2232670"/>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62626"/>
                </a:solidFill>
                <a:latin typeface="Arial" pitchFamily="34" charset="0"/>
                <a:ea typeface="Arial" pitchFamily="34" charset="-122"/>
                <a:cs typeface="Arial" pitchFamily="34" charset="-120"/>
              </a:rPr>
              <a:t>(b) Add it blurred</a:t>
            </a:r>
            <a:endParaRPr lang="en-US" sz="1600" dirty="0"/>
          </a:p>
        </p:txBody>
      </p:sp>
      <p:sp>
        <p:nvSpPr>
          <p:cNvPr id="15" name="Shape 10"/>
          <p:cNvSpPr/>
          <p:nvPr/>
        </p:nvSpPr>
        <p:spPr>
          <a:xfrm>
            <a:off x="3378200" y="2184400"/>
            <a:ext cx="508000" cy="381000"/>
          </a:xfrm>
          <a:prstGeom prst="rect">
            <a:avLst/>
          </a:prstGeom>
          <a:solidFill>
            <a:srgbClr val="BFBFBF"/>
          </a:solidFill>
          <a:ln/>
        </p:spPr>
      </p:sp>
      <p:sp>
        <p:nvSpPr>
          <p:cNvPr id="16" name="Shape 11"/>
          <p:cNvSpPr/>
          <p:nvPr/>
        </p:nvSpPr>
        <p:spPr>
          <a:xfrm>
            <a:off x="3949700" y="2184400"/>
            <a:ext cx="508000" cy="381000"/>
          </a:xfrm>
          <a:prstGeom prst="rect">
            <a:avLst/>
          </a:prstGeom>
          <a:solidFill>
            <a:srgbClr val="BFBFBF"/>
          </a:solidFill>
          <a:ln/>
        </p:spPr>
      </p:sp>
      <p:sp>
        <p:nvSpPr>
          <p:cNvPr id="17" name="Shape 12"/>
          <p:cNvSpPr/>
          <p:nvPr/>
        </p:nvSpPr>
        <p:spPr>
          <a:xfrm>
            <a:off x="4521200" y="2184400"/>
            <a:ext cx="508000" cy="381000"/>
          </a:xfrm>
          <a:prstGeom prst="rect">
            <a:avLst/>
          </a:prstGeom>
          <a:solidFill>
            <a:srgbClr val="BFBFBF"/>
          </a:solidFill>
          <a:ln/>
        </p:spPr>
      </p:sp>
      <p:sp>
        <p:nvSpPr>
          <p:cNvPr id="18" name="Shape 13"/>
          <p:cNvSpPr/>
          <p:nvPr/>
        </p:nvSpPr>
        <p:spPr>
          <a:xfrm>
            <a:off x="5092700" y="2184400"/>
            <a:ext cx="508000" cy="381000"/>
          </a:xfrm>
          <a:prstGeom prst="rect">
            <a:avLst/>
          </a:prstGeom>
          <a:solidFill>
            <a:srgbClr val="BFBFBF"/>
          </a:solidFill>
          <a:ln/>
        </p:spPr>
      </p:sp>
      <p:sp>
        <p:nvSpPr>
          <p:cNvPr id="19" name="Shape 14"/>
          <p:cNvSpPr/>
          <p:nvPr/>
        </p:nvSpPr>
        <p:spPr>
          <a:xfrm>
            <a:off x="5664200" y="2184400"/>
            <a:ext cx="508000" cy="381000"/>
          </a:xfrm>
          <a:prstGeom prst="rect">
            <a:avLst/>
          </a:prstGeom>
          <a:solidFill>
            <a:srgbClr val="ED7D31"/>
          </a:solidFill>
          <a:ln/>
        </p:spPr>
      </p:sp>
      <p:pic>
        <p:nvPicPr>
          <p:cNvPr id="20" name="Image 3" descr="arrow-right">    </p:cNvPr>
          <p:cNvPicPr>
            <a:picLocks noChangeAspect="1"/>
          </p:cNvPicPr>
          <p:nvPr/>
        </p:nvPicPr>
        <p:blipFill>
          <a:blip r:embed="rId4"/>
          <a:srcRect l="0" r="0" t="0" b="0"/>
          <a:stretch/>
        </p:blipFill>
        <p:spPr>
          <a:xfrm>
            <a:off x="6324600" y="2286000"/>
            <a:ext cx="381000" cy="177800"/>
          </a:xfrm>
          <a:prstGeom prst="rect">
            <a:avLst/>
          </a:prstGeom>
        </p:spPr>
      </p:pic>
      <p:sp>
        <p:nvSpPr>
          <p:cNvPr id="21" name="Text 15"/>
          <p:cNvSpPr/>
          <p:nvPr/>
        </p:nvSpPr>
        <p:spPr>
          <a:xfrm>
            <a:off x="6858000" y="2152650"/>
            <a:ext cx="1079500" cy="444500"/>
          </a:xfrm>
          <a:prstGeom prst="rect">
            <a:avLst/>
          </a:prstGeom>
          <a:solidFill>
            <a:srgbClr val="4472C4"/>
          </a:solidFill>
          <a:ln/>
        </p:spPr>
        <p:txBody>
          <a:bodyPr wrap="square" lIns="0" tIns="0" rIns="0" bIns="0" rtlCol="0" anchor="ctr">
            <a:normAutofit/>
          </a:bodyPr>
          <a:lstStyle/>
          <a:p>
            <a:pPr algn="ctr" indent="0" marL="0">
              <a:lnSpc>
                <a:spcPts val="2240"/>
              </a:lnSpc>
              <a:buNone/>
            </a:pPr>
            <a:r>
              <a:rPr lang="en-US" sz="1600" b="1" dirty="0">
                <a:solidFill>
                  <a:srgbClr val="FFFFFF"/>
                </a:solidFill>
                <a:latin typeface="Arial" pitchFamily="34" charset="0"/>
                <a:ea typeface="Arial" pitchFamily="34" charset="-122"/>
                <a:cs typeface="Arial" pitchFamily="34" charset="-120"/>
              </a:rPr>
              <a:t>VGGT</a:t>
            </a:r>
            <a:endParaRPr lang="en-US" sz="1600" dirty="0"/>
          </a:p>
        </p:txBody>
      </p:sp>
      <p:pic>
        <p:nvPicPr>
          <p:cNvPr id="22" name="Image 4" descr="arrow-right">    </p:cNvPr>
          <p:cNvPicPr>
            <a:picLocks noChangeAspect="1"/>
          </p:cNvPicPr>
          <p:nvPr/>
        </p:nvPicPr>
        <p:blipFill>
          <a:blip r:embed="rId5"/>
          <a:srcRect l="0" r="0" t="0" b="0"/>
          <a:stretch/>
        </p:blipFill>
        <p:spPr>
          <a:xfrm>
            <a:off x="8089900" y="2286000"/>
            <a:ext cx="381000" cy="177800"/>
          </a:xfrm>
          <a:prstGeom prst="rect">
            <a:avLst/>
          </a:prstGeom>
        </p:spPr>
      </p:pic>
      <p:sp>
        <p:nvSpPr>
          <p:cNvPr id="23" name="Text 16"/>
          <p:cNvSpPr/>
          <p:nvPr/>
        </p:nvSpPr>
        <p:spPr>
          <a:xfrm>
            <a:off x="8623300" y="2214860"/>
            <a:ext cx="108257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62626"/>
                </a:solidFill>
                <a:latin typeface="Arial" pitchFamily="34" charset="0"/>
                <a:ea typeface="Arial" pitchFamily="34" charset="-122"/>
                <a:cs typeface="Arial" pitchFamily="34" charset="-120"/>
              </a:rPr>
              <a:t>Error E2</a:t>
            </a:r>
            <a:endParaRPr lang="en-US" sz="1800" dirty="0"/>
          </a:p>
        </p:txBody>
      </p:sp>
      <p:sp>
        <p:nvSpPr>
          <p:cNvPr id="24" name="Text 17"/>
          <p:cNvSpPr/>
          <p:nvPr/>
        </p:nvSpPr>
        <p:spPr>
          <a:xfrm>
            <a:off x="812800" y="27749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Gray: context images, orange: blurred target, dashed: missing view</a:t>
            </a:r>
            <a:endParaRPr lang="en-US" sz="1200" dirty="0"/>
          </a:p>
        </p:txBody>
      </p:sp>
      <p:sp>
        <p:nvSpPr>
          <p:cNvPr id="25" name="Text 18"/>
          <p:cNvSpPr/>
          <p:nvPr/>
        </p:nvSpPr>
        <p:spPr>
          <a:xfrm>
            <a:off x="812800" y="3166070"/>
            <a:ext cx="1863675"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F3864"/>
                </a:solidFill>
                <a:latin typeface="Arial" pitchFamily="34" charset="0"/>
                <a:ea typeface="Arial" pitchFamily="34" charset="-122"/>
                <a:cs typeface="Arial" pitchFamily="34" charset="-120"/>
              </a:rPr>
              <a:t>U = E1 − E2</a:t>
            </a:r>
            <a:endParaRPr lang="en-US" sz="2400" dirty="0"/>
          </a:p>
        </p:txBody>
      </p:sp>
      <p:sp>
        <p:nvSpPr>
          <p:cNvPr id="26" name="Text 19"/>
          <p:cNvSpPr/>
          <p:nvPr/>
        </p:nvSpPr>
        <p:spPr>
          <a:xfrm>
            <a:off x="2676475" y="3274020"/>
            <a:ext cx="314444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04040"/>
                </a:solidFill>
                <a:latin typeface="Arial" pitchFamily="34" charset="0"/>
                <a:ea typeface="Arial" pitchFamily="34" charset="-122"/>
                <a:cs typeface="Arial" pitchFamily="34" charset="-120"/>
              </a:rPr>
              <a:t>(computed at each blur level)</a:t>
            </a:r>
            <a:endParaRPr lang="en-US" sz="1600" dirty="0"/>
          </a:p>
        </p:txBody>
      </p:sp>
      <p:sp>
        <p:nvSpPr>
          <p:cNvPr id="27" name="Text 20"/>
          <p:cNvSpPr/>
          <p:nvPr/>
        </p:nvSpPr>
        <p:spPr>
          <a:xfrm>
            <a:off x="889508" y="3770561"/>
            <a:ext cx="10799064" cy="939800"/>
          </a:xfrm>
          <a:prstGeom prst="rect">
            <a:avLst/>
          </a:prstGeom>
          <a:noFill/>
          <a:ln/>
        </p:spPr>
        <p:txBody>
          <a:bodyPr wrap="square" lIns="0" tIns="0" rIns="0" bIns="0" rtlCol="0" anchor="t">
            <a:normAutofit/>
          </a:bodyPr>
          <a:lstStyle/>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U &gt; 0: adding the image helps</a:t>
            </a:r>
            <a:endParaRPr lang="en-US" sz="1600" dirty="0"/>
          </a:p>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U ≈ 0: no real effect</a:t>
            </a:r>
            <a:endParaRPr lang="en-US" sz="1600" dirty="0"/>
          </a:p>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U &lt; 0: better to drop it (the image is harmful)</a:t>
            </a:r>
            <a:endParaRPr lang="en-US" sz="1600" dirty="0"/>
          </a:p>
        </p:txBody>
      </p:sp>
      <p:sp>
        <p:nvSpPr>
          <p:cNvPr id="28"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Robot Vision Term Project</a:t>
            </a:r>
            <a:endParaRPr lang="en-US" sz="1200" dirty="0"/>
          </a:p>
        </p:txBody>
      </p:sp>
      <p:sp>
        <p:nvSpPr>
          <p:cNvPr id="29"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3864"/>
                </a:solidFill>
                <a:latin typeface="Arial" pitchFamily="34" charset="0"/>
                <a:ea typeface="Arial" pitchFamily="34" charset="-122"/>
                <a:cs typeface="Arial" pitchFamily="34" charset="-120"/>
              </a:rPr>
              <a:t>Experimental Setup</a:t>
            </a:r>
            <a:endParaRPr lang="en-US" sz="3000" dirty="0"/>
          </a:p>
        </p:txBody>
      </p:sp>
      <p:pic>
        <p:nvPicPr>
          <p:cNvPr id="3" name="Image 0" descr="line">    </p:cNvPr>
          <p:cNvPicPr>
            <a:picLocks noChangeAspect="1"/>
          </p:cNvPicPr>
          <p:nvPr/>
        </p:nvPicPr>
        <p:blipFill>
          <a:blip r:embed="rId1"/>
          <a:srcRect l="0" r="0" t="0" b="0"/>
          <a:stretch/>
        </p:blipFill>
        <p:spPr>
          <a:xfrm>
            <a:off x="812800" y="1327150"/>
            <a:ext cx="10566400" cy="25400"/>
          </a:xfrm>
          <a:prstGeom prst="rect">
            <a:avLst/>
          </a:prstGeom>
        </p:spPr>
      </p:pic>
      <p:sp>
        <p:nvSpPr>
          <p:cNvPr id="4" name="Text 1"/>
          <p:cNvSpPr/>
          <p:nvPr/>
        </p:nvSpPr>
        <p:spPr>
          <a:xfrm>
            <a:off x="889508" y="1530350"/>
            <a:ext cx="10799064" cy="1549400"/>
          </a:xfrm>
          <a:prstGeom prst="rect">
            <a:avLst/>
          </a:prstGeom>
          <a:noFill/>
          <a:ln/>
        </p:spPr>
        <p:txBody>
          <a:bodyPr wrap="square" lIns="0" tIns="0" rIns="0" bIns="0" rtlCol="0" anchor="t">
            <a:normAutofit/>
          </a:bodyPr>
          <a:lstStyle/>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Data: ETH3D [2], office (26 images) and terrace (23 images), with laser-scan ground truth</a:t>
            </a:r>
            <a:endParaRPr lang="en-US" sz="1600" dirty="0"/>
          </a:p>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Model: pretrained VGGT-1B, no fine-tuning</a:t>
            </a:r>
            <a:endParaRPr lang="en-US" sz="1600" dirty="0"/>
          </a:p>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Each case: one target image plus context images from the same scene</a:t>
            </a:r>
            <a:endParaRPr lang="en-US" sz="1600" dirty="0"/>
          </a:p>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Blur: synthetic camera-shake blur on the target, from 0 to 64 px</a:t>
            </a:r>
            <a:endParaRPr lang="en-US" sz="1600" dirty="0"/>
          </a:p>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For each blur level, run VGGT with the target dropped (E1) and blurred (E2)</a:t>
            </a:r>
            <a:endParaRPr lang="en-US" sz="1600" dirty="0"/>
          </a:p>
        </p:txBody>
      </p:sp>
      <p:pic>
        <p:nvPicPr>
          <p:cNvPr id="5" name="Image 1" descr="The same office image at blur levels of 0, 4, 16 and 64 px">    </p:cNvPr>
          <p:cNvPicPr>
            <a:picLocks noChangeAspect="1"/>
          </p:cNvPicPr>
          <p:nvPr/>
        </p:nvPicPr>
        <p:blipFill>
          <a:blip r:embed="rId2"/>
          <a:srcRect l="0" r="0" t="-19" b="-19"/>
          <a:stretch/>
        </p:blipFill>
        <p:spPr>
          <a:xfrm>
            <a:off x="2921000" y="3232150"/>
            <a:ext cx="6350000" cy="1282700"/>
          </a:xfrm>
          <a:prstGeom prst="rect">
            <a:avLst/>
          </a:prstGeom>
        </p:spPr>
      </p:pic>
      <p:sp>
        <p:nvSpPr>
          <p:cNvPr id="6" name="Text 2"/>
          <p:cNvSpPr/>
          <p:nvPr/>
        </p:nvSpPr>
        <p:spPr>
          <a:xfrm>
            <a:off x="4230767" y="4565650"/>
            <a:ext cx="373046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95959"/>
                </a:solidFill>
                <a:latin typeface="Arial" pitchFamily="34" charset="0"/>
                <a:ea typeface="Arial" pitchFamily="34" charset="-122"/>
                <a:cs typeface="Arial" pitchFamily="34" charset="-120"/>
              </a:rPr>
              <a:t>Example: the same image with increasing blur</a:t>
            </a:r>
            <a:endParaRPr lang="en-US" sz="1200" dirty="0"/>
          </a:p>
        </p:txBody>
      </p:sp>
      <p:sp>
        <p:nvSpPr>
          <p:cNvPr id="7" name="Text 3"/>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[2] T. Schöps et al., “A Multi-View Stereo Benchmark with High-Resolution Images and Multi-Camera Videos,” CVPR 2017.</a:t>
            </a:r>
            <a:endParaRPr lang="en-US" sz="1200" dirty="0"/>
          </a:p>
        </p:txBody>
      </p:sp>
      <p:sp>
        <p:nvSpPr>
          <p:cNvPr id="8"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Robot Vision Term Project</a:t>
            </a:r>
            <a:endParaRPr lang="en-US" sz="1200" dirty="0"/>
          </a:p>
        </p:txBody>
      </p:sp>
      <p:sp>
        <p:nvSpPr>
          <p:cNvPr id="9" name="Text 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3864"/>
                </a:solidFill>
                <a:latin typeface="Arial" pitchFamily="34" charset="0"/>
                <a:ea typeface="Arial" pitchFamily="34" charset="-122"/>
                <a:cs typeface="Arial" pitchFamily="34" charset="-120"/>
              </a:rPr>
              <a:t>Evaluation</a:t>
            </a:r>
            <a:endParaRPr lang="en-US" sz="3000" dirty="0"/>
          </a:p>
        </p:txBody>
      </p:sp>
      <p:pic>
        <p:nvPicPr>
          <p:cNvPr id="3" name="Image 0" descr="line">    </p:cNvPr>
          <p:cNvPicPr>
            <a:picLocks noChangeAspect="1"/>
          </p:cNvPicPr>
          <p:nvPr/>
        </p:nvPicPr>
        <p:blipFill>
          <a:blip r:embed="rId1"/>
          <a:srcRect l="0" r="0" t="0" b="0"/>
          <a:stretch/>
        </p:blipFill>
        <p:spPr>
          <a:xfrm>
            <a:off x="812800" y="1327150"/>
            <a:ext cx="10566400" cy="25400"/>
          </a:xfrm>
          <a:prstGeom prst="rect">
            <a:avLst/>
          </a:prstGeom>
        </p:spPr>
      </p:pic>
      <p:sp>
        <p:nvSpPr>
          <p:cNvPr id="4" name="Text 1"/>
          <p:cNvSpPr/>
          <p:nvPr/>
        </p:nvSpPr>
        <p:spPr>
          <a:xfrm>
            <a:off x="812800" y="1530350"/>
            <a:ext cx="108833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864"/>
                </a:solidFill>
                <a:latin typeface="Arial" pitchFamily="34" charset="0"/>
                <a:ea typeface="Arial" pitchFamily="34" charset="-122"/>
                <a:cs typeface="Arial" pitchFamily="34" charset="-120"/>
              </a:rPr>
              <a:t>Pose error</a:t>
            </a:r>
            <a:endParaRPr lang="en-US" sz="2000" dirty="0"/>
          </a:p>
        </p:txBody>
      </p:sp>
      <p:sp>
        <p:nvSpPr>
          <p:cNvPr id="5" name="Text 2"/>
          <p:cNvSpPr/>
          <p:nvPr/>
        </p:nvSpPr>
        <p:spPr>
          <a:xfrm>
            <a:off x="812800" y="1885950"/>
            <a:ext cx="10883392"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262626"/>
                </a:solidFill>
                <a:latin typeface="Arial" pitchFamily="34" charset="0"/>
                <a:ea typeface="Arial" pitchFamily="34" charset="-122"/>
                <a:cs typeface="Arial" pitchFamily="34" charset="-120"/>
              </a:rPr>
              <a:t>Relative rotation and translation-direction error between pairs of context images, using the same pairs with and without the target.</a:t>
            </a:r>
            <a:endParaRPr lang="en-US" sz="1600" dirty="0"/>
          </a:p>
        </p:txBody>
      </p:sp>
      <p:sp>
        <p:nvSpPr>
          <p:cNvPr id="6" name="Text 3"/>
          <p:cNvSpPr/>
          <p:nvPr/>
        </p:nvSpPr>
        <p:spPr>
          <a:xfrm>
            <a:off x="812800" y="2653010"/>
            <a:ext cx="108833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864"/>
                </a:solidFill>
                <a:latin typeface="Arial" pitchFamily="34" charset="0"/>
                <a:ea typeface="Arial" pitchFamily="34" charset="-122"/>
                <a:cs typeface="Arial" pitchFamily="34" charset="-120"/>
              </a:rPr>
              <a:t>Geometry error</a:t>
            </a:r>
            <a:endParaRPr lang="en-US" sz="2000" dirty="0"/>
          </a:p>
        </p:txBody>
      </p:sp>
      <p:sp>
        <p:nvSpPr>
          <p:cNvPr id="7" name="Text 4"/>
          <p:cNvSpPr/>
          <p:nvPr/>
        </p:nvSpPr>
        <p:spPr>
          <a:xfrm>
            <a:off x="812800" y="3008610"/>
            <a:ext cx="10883392"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262626"/>
                </a:solidFill>
                <a:latin typeface="Arial" pitchFamily="34" charset="0"/>
                <a:ea typeface="Arial" pitchFamily="34" charset="-122"/>
                <a:cs typeface="Arial" pitchFamily="34" charset="-120"/>
              </a:rPr>
              <a:t>Point cloud vs. laser scan with the official ETH3D metrics (accuracy, completeness, F1 at 1–50 cm). The output is aligned to the ground truth using the context images only.</a:t>
            </a:r>
            <a:endParaRPr lang="en-US" sz="1600" dirty="0"/>
          </a:p>
        </p:txBody>
      </p:sp>
      <p:sp>
        <p:nvSpPr>
          <p:cNvPr id="8" name="Text 5"/>
          <p:cNvSpPr/>
          <p:nvPr/>
        </p:nvSpPr>
        <p:spPr>
          <a:xfrm>
            <a:off x="812800" y="3775670"/>
            <a:ext cx="108833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864"/>
                </a:solidFill>
                <a:latin typeface="Arial" pitchFamily="34" charset="0"/>
                <a:ea typeface="Arial" pitchFamily="34" charset="-122"/>
                <a:cs typeface="Arial" pitchFamily="34" charset="-120"/>
              </a:rPr>
              <a:t>Noise level δ</a:t>
            </a:r>
            <a:endParaRPr lang="en-US" sz="2000" dirty="0"/>
          </a:p>
        </p:txBody>
      </p:sp>
      <p:sp>
        <p:nvSpPr>
          <p:cNvPr id="9" name="Text 6"/>
          <p:cNvSpPr/>
          <p:nvPr/>
        </p:nvSpPr>
        <p:spPr>
          <a:xfrm>
            <a:off x="812800" y="4131270"/>
            <a:ext cx="10883392"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262626"/>
                </a:solidFill>
                <a:latin typeface="Arial" pitchFamily="34" charset="0"/>
                <a:ea typeface="Arial" pitchFamily="34" charset="-122"/>
                <a:cs typeface="Arial" pitchFamily="34" charset="-120"/>
              </a:rPr>
              <a:t>VGGT’s output changes slightly even when the input changes by an invisible amount. We repeat each condition with small random noise and only count differences larger than this noise level.</a:t>
            </a:r>
            <a:endParaRPr lang="en-US" sz="1600" dirty="0"/>
          </a:p>
        </p:txBody>
      </p:sp>
      <p:sp>
        <p:nvSpPr>
          <p:cNvPr id="10" name="Text 7"/>
          <p:cNvSpPr/>
          <p:nvPr/>
        </p:nvSpPr>
        <p:spPr>
          <a:xfrm>
            <a:off x="812800" y="489833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595959"/>
                </a:solidFill>
                <a:latin typeface="Arial" pitchFamily="34" charset="0"/>
                <a:ea typeface="Arial" pitchFamily="34" charset="-122"/>
                <a:cs typeface="Arial" pitchFamily="34" charset="-120"/>
              </a:rPr>
              <a:t>Pose and geometry results are reported separately.</a:t>
            </a:r>
            <a:endParaRPr lang="en-US" sz="1400" dirty="0"/>
          </a:p>
        </p:txBody>
      </p:sp>
      <p:sp>
        <p:nvSpPr>
          <p:cNvPr id="11"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Robot Vision Term Project</a:t>
            </a:r>
            <a:endParaRPr lang="en-US" sz="1200" dirty="0"/>
          </a:p>
        </p:txBody>
      </p:sp>
      <p:sp>
        <p:nvSpPr>
          <p:cNvPr id="12"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3864"/>
                </a:solidFill>
                <a:latin typeface="Arial" pitchFamily="34" charset="0"/>
                <a:ea typeface="Arial" pitchFamily="34" charset="-122"/>
                <a:cs typeface="Arial" pitchFamily="34" charset="-120"/>
              </a:rPr>
              <a:t>Expected Results</a:t>
            </a:r>
            <a:endParaRPr lang="en-US" sz="3000" dirty="0"/>
          </a:p>
        </p:txBody>
      </p:sp>
      <p:pic>
        <p:nvPicPr>
          <p:cNvPr id="3" name="Image 0" descr="line">    </p:cNvPr>
          <p:cNvPicPr>
            <a:picLocks noChangeAspect="1"/>
          </p:cNvPicPr>
          <p:nvPr/>
        </p:nvPicPr>
        <p:blipFill>
          <a:blip r:embed="rId1"/>
          <a:srcRect l="0" r="0" t="0" b="0"/>
          <a:stretch/>
        </p:blipFill>
        <p:spPr>
          <a:xfrm>
            <a:off x="812800" y="1327150"/>
            <a:ext cx="10566400" cy="25400"/>
          </a:xfrm>
          <a:prstGeom prst="rect">
            <a:avLst/>
          </a:prstGeom>
        </p:spPr>
      </p:pic>
      <p:pic>
        <p:nvPicPr>
          <p:cNvPr id="4" name="Image 1" descr="Illustration: U decreases as blur increases and falls below the noise band">    </p:cNvPr>
          <p:cNvPicPr>
            <a:picLocks noChangeAspect="1"/>
          </p:cNvPicPr>
          <p:nvPr/>
        </p:nvPicPr>
        <p:blipFill>
          <a:blip r:embed="rId2"/>
          <a:srcRect l="0" r="0" t="0" b="0"/>
          <a:stretch/>
        </p:blipFill>
        <p:spPr>
          <a:xfrm>
            <a:off x="812800" y="1530350"/>
            <a:ext cx="4826000" cy="2921000"/>
          </a:xfrm>
          <a:prstGeom prst="rect">
            <a:avLst/>
          </a:prstGeom>
        </p:spPr>
      </p:pic>
      <p:sp>
        <p:nvSpPr>
          <p:cNvPr id="5" name="Text 1"/>
          <p:cNvSpPr/>
          <p:nvPr/>
        </p:nvSpPr>
        <p:spPr>
          <a:xfrm>
            <a:off x="965200" y="1581150"/>
            <a:ext cx="304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62626"/>
                </a:solidFill>
                <a:latin typeface="Arial" pitchFamily="34" charset="0"/>
                <a:ea typeface="Arial" pitchFamily="34" charset="-122"/>
                <a:cs typeface="Arial" pitchFamily="34" charset="-120"/>
              </a:rPr>
              <a:t>U</a:t>
            </a:r>
            <a:endParaRPr lang="en-US" sz="1600" dirty="0"/>
          </a:p>
        </p:txBody>
      </p:sp>
      <p:sp>
        <p:nvSpPr>
          <p:cNvPr id="6" name="Text 2"/>
          <p:cNvSpPr/>
          <p:nvPr/>
        </p:nvSpPr>
        <p:spPr>
          <a:xfrm>
            <a:off x="1066800" y="271145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0</a:t>
            </a:r>
            <a:endParaRPr lang="en-US" sz="1200" dirty="0"/>
          </a:p>
        </p:txBody>
      </p:sp>
      <p:sp>
        <p:nvSpPr>
          <p:cNvPr id="7" name="Text 3"/>
          <p:cNvSpPr/>
          <p:nvPr/>
        </p:nvSpPr>
        <p:spPr>
          <a:xfrm>
            <a:off x="4191000" y="2343150"/>
            <a:ext cx="1257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±δ (noise)</a:t>
            </a:r>
            <a:endParaRPr lang="en-US" sz="1200" dirty="0"/>
          </a:p>
        </p:txBody>
      </p:sp>
      <p:sp>
        <p:nvSpPr>
          <p:cNvPr id="8" name="Text 4"/>
          <p:cNvSpPr/>
          <p:nvPr/>
        </p:nvSpPr>
        <p:spPr>
          <a:xfrm>
            <a:off x="2603500" y="3092450"/>
            <a:ext cx="11620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C55A11"/>
                </a:solidFill>
                <a:latin typeface="Arial" pitchFamily="34" charset="0"/>
                <a:ea typeface="Arial" pitchFamily="34" charset="-122"/>
                <a:cs typeface="Arial" pitchFamily="34" charset="-120"/>
              </a:rPr>
              <a:t>harm starts</a:t>
            </a:r>
            <a:endParaRPr lang="en-US" sz="1200" dirty="0"/>
          </a:p>
        </p:txBody>
      </p:sp>
      <p:sp>
        <p:nvSpPr>
          <p:cNvPr id="9" name="Text 5"/>
          <p:cNvSpPr/>
          <p:nvPr/>
        </p:nvSpPr>
        <p:spPr>
          <a:xfrm>
            <a:off x="4064000" y="4235450"/>
            <a:ext cx="138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blur strength</a:t>
            </a:r>
            <a:endParaRPr lang="en-US" sz="1200" dirty="0"/>
          </a:p>
        </p:txBody>
      </p:sp>
      <p:sp>
        <p:nvSpPr>
          <p:cNvPr id="10" name="Text 6"/>
          <p:cNvSpPr/>
          <p:nvPr/>
        </p:nvSpPr>
        <p:spPr>
          <a:xfrm>
            <a:off x="812800" y="450215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Illustration only, not real data</a:t>
            </a:r>
            <a:endParaRPr lang="en-US" sz="1200" dirty="0"/>
          </a:p>
        </p:txBody>
      </p:sp>
      <p:sp>
        <p:nvSpPr>
          <p:cNvPr id="11" name="Text 7"/>
          <p:cNvSpPr/>
          <p:nvPr/>
        </p:nvSpPr>
        <p:spPr>
          <a:xfrm>
            <a:off x="6020308" y="1530350"/>
            <a:ext cx="5514340" cy="1244600"/>
          </a:xfrm>
          <a:prstGeom prst="rect">
            <a:avLst/>
          </a:prstGeom>
          <a:noFill/>
          <a:ln/>
        </p:spPr>
        <p:txBody>
          <a:bodyPr wrap="square" lIns="0" tIns="0" rIns="0" bIns="0" rtlCol="0" anchor="t">
            <a:normAutofit/>
          </a:bodyPr>
          <a:lstStyle/>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U vs. blur strength for each case</a:t>
            </a:r>
            <a:endParaRPr lang="en-US" sz="1600" dirty="0"/>
          </a:p>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Fraction of harmful cases (U &lt; −δ) at each blur level</a:t>
            </a:r>
            <a:endParaRPr lang="en-US" sz="1600" dirty="0"/>
          </a:p>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Blur level where the image starts to hurt</a:t>
            </a:r>
            <a:endParaRPr lang="en-US" sz="1600" dirty="0"/>
          </a:p>
          <a:p>
            <a:pPr algn="l" marL="177292" indent="-177292">
              <a:lnSpc>
                <a:spcPts val="2400"/>
              </a:lnSpc>
              <a:buSzPct val="100000"/>
              <a:buChar char="•"/>
            </a:pPr>
            <a:r>
              <a:rPr lang="en-US" sz="1600" dirty="0">
                <a:solidFill>
                  <a:srgbClr val="262626"/>
                </a:solidFill>
                <a:latin typeface="Arial" pitchFamily="34" charset="0"/>
                <a:ea typeface="Arial" pitchFamily="34" charset="-122"/>
                <a:cs typeface="Arial" pitchFamily="34" charset="-120"/>
              </a:rPr>
              <a:t>Settings where it happens (few images, low overlap)</a:t>
            </a:r>
            <a:endParaRPr lang="en-US" sz="1600" dirty="0"/>
          </a:p>
        </p:txBody>
      </p:sp>
      <p:sp>
        <p:nvSpPr>
          <p:cNvPr id="12" name="Text 8"/>
          <p:cNvSpPr/>
          <p:nvPr/>
        </p:nvSpPr>
        <p:spPr>
          <a:xfrm>
            <a:off x="5943600" y="2901950"/>
            <a:ext cx="5598668"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3864"/>
                </a:solidFill>
                <a:latin typeface="Arial" pitchFamily="34" charset="0"/>
                <a:ea typeface="Arial" pitchFamily="34" charset="-122"/>
                <a:cs typeface="Arial" pitchFamily="34" charset="-120"/>
              </a:rPr>
              <a:t>Goal: a practical guideline for when to discard blurry frames</a:t>
            </a:r>
            <a:endParaRPr lang="en-US" sz="1600" dirty="0"/>
          </a:p>
        </p:txBody>
      </p:sp>
      <p:sp>
        <p:nvSpPr>
          <p:cNvPr id="13"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Robot Vision Term Project</a:t>
            </a:r>
            <a:endParaRPr lang="en-US" sz="1200" dirty="0"/>
          </a:p>
        </p:txBody>
      </p:sp>
      <p:sp>
        <p:nvSpPr>
          <p:cNvPr id="14"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theme/theme1.xml><?xml version="1.0" encoding="utf-8"?>
<a:theme xmlns:a="http://schemas.openxmlformats.org/drawingml/2006/main" name="FrameUtility 3-Minute Talk">
  <a:themeElements>
    <a:clrScheme name="FrameUtility 3-Minute Talk">
      <a:dk1>
        <a:srgbClr val="262626"/>
      </a:dk1>
      <a:lt1>
        <a:srgbClr val="FFFFFF"/>
      </a:lt1>
      <a:dk2>
        <a:srgbClr val="5C5C5C"/>
      </a:dk2>
      <a:lt2>
        <a:srgbClr val="E9E9E9"/>
      </a:lt2>
      <a:accent1>
        <a:srgbClr val="1F3864"/>
      </a:accent1>
      <a:accent2>
        <a:srgbClr val="4472C4"/>
      </a:accent2>
      <a:accent3>
        <a:srgbClr val="ED7D31"/>
      </a:accent3>
      <a:accent4>
        <a:srgbClr val="C55A11"/>
      </a:accent4>
      <a:accent5>
        <a:srgbClr val="595959"/>
      </a:accent5>
      <a:accent6>
        <a:srgbClr val="BFBFBF"/>
      </a:accent6>
      <a:hlink>
        <a:srgbClr val="0563C1"/>
      </a:hlink>
      <a:folHlink>
        <a:srgbClr val="954F72"/>
      </a:folHlink>
    </a:clrScheme>
    <a:fontScheme name="FrameUtility 3-Minute Tal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FrameUtility 3-Minute Talk</dc:title>
  <dc:subject/>
  <dc:creator/>
  <cp:lastModifiedBy/>
  <cp:revision>1</cp:revision>
  <dcterms:created xsi:type="dcterms:W3CDTF">2026-10-18T07:13:26Z</dcterms:created>
  <dcterms:modified xsi:type="dcterms:W3CDTF">2026-10-18T07:13:26Z</dcterms:modified>
</cp:coreProperties>
</file>